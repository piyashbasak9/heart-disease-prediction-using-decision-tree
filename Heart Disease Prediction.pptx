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7692" y="1402080"/>
            <a:ext cx="686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Disease Prediction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2032491" y="2240280"/>
            <a:ext cx="50788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Decision Tree Algorithm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249843" y="2956560"/>
            <a:ext cx="2644195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Project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464798" y="3520440"/>
            <a:ext cx="221440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Your Name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369695"/>
            <a:ext cx="39444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14400" y="1887855"/>
            <a:ext cx="356235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disease is one of leading causes of death worldwide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detection can save lives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interpretable predictions for doctors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is perfect for this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249681"/>
            <a:ext cx="7924800" cy="990600"/>
          </a:xfrm>
          <a:prstGeom prst="roundRect">
            <a:avLst>
              <a:gd name="adj" fmla="val 73846"/>
            </a:avLst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2468881"/>
            <a:ext cx="7924800" cy="990600"/>
          </a:xfrm>
          <a:prstGeom prst="roundRect">
            <a:avLst>
              <a:gd name="adj" fmla="val 73846"/>
            </a:avLst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3688081"/>
            <a:ext cx="7924800" cy="990600"/>
          </a:xfrm>
          <a:prstGeom prst="roundRect">
            <a:avLst>
              <a:gd name="adj" fmla="val 73846"/>
            </a:avLst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30352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838200" y="1478281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Records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38200" y="1752600"/>
            <a:ext cx="7616952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303 Patients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38200" y="2697481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38200" y="2971800"/>
            <a:ext cx="7616952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Attributes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38200" y="3916681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Variable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38200" y="4191000"/>
            <a:ext cx="7616952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Disease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Used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914400" y="124968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Patient's age in years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Sex: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Gender (Male/Female)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Chest pain type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Heart Rate (thalachh):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Maximum heart rate achieved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Important Features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Slope (slp):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Slope of ST segment on ECG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Induced Angina (exng):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Does exercise cause chest pain?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Peak (oldpeak):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 depression induced by exercise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Cholesterol (chol):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Serum cholesterol level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Decision Tree?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914400" y="117348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Easy to understand and interpret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Mirrors human decision-making process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Works well with both numeric and categorical 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Requires no data scaling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Can handle missing values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8896" y="1051561"/>
            <a:ext cx="7766209" cy="3482340"/>
          </a:xfrm>
          <a:prstGeom prst="roundRect">
            <a:avLst>
              <a:gd name="adj" fmla="val 31510"/>
            </a:avLst>
          </a:prstGeom>
          <a:solidFill>
            <a:srgbClr val="FFFFFF">
              <a:alpha val="96000"/>
            </a:srgbClr>
          </a:solidFill>
          <a:ln w="22860">
            <a:solidFill>
              <a:srgbClr val="FF6A88"/>
            </a:solidFill>
          </a:ln>
          <a:effectLst>
            <a:outerShdw sx="100000" sy="100000" kx="0" ky="0" algn="bl" rotWithShape="0" blurRad="190500" dist="76200" dir="5400000">
              <a:srgbClr val="000000">
                <a:alpha val="2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2078275" y="609600"/>
            <a:ext cx="49873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Model Visualization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96847" y="5202910"/>
            <a:ext cx="4350187" cy="2065020"/>
          </a:xfrm>
          <a:prstGeom prst="roundRect">
            <a:avLst>
              <a:gd name="adj" fmla="val 53137"/>
            </a:avLst>
          </a:prstGeom>
          <a:solidFill>
            <a:srgbClr val="FFFFFF">
              <a:alpha val="9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2396847" y="4648200"/>
            <a:ext cx="4437190" cy="40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68"/>
              </a:lnSpc>
              <a:buNone/>
            </a:pPr>
            <a:r>
              <a:rPr lang="en-US" sz="264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Decision Tree Works</a:t>
            </a:r>
            <a:endParaRPr lang="en-US" sz="2640" dirty="0"/>
          </a:p>
        </p:txBody>
      </p:sp>
      <p:sp>
        <p:nvSpPr>
          <p:cNvPr id="5" name="Text 2"/>
          <p:cNvSpPr/>
          <p:nvPr/>
        </p:nvSpPr>
        <p:spPr>
          <a:xfrm>
            <a:off x="2640687" y="5393410"/>
            <a:ext cx="3915847" cy="168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640"/>
              </a:lnSpc>
              <a:buSzPct val="100000"/>
              <a:buChar char="•"/>
            </a:pPr>
            <a:r>
              <a:rPr lang="en-US" sz="13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Asks Questions:</a:t>
            </a:r>
            <a:pPr indent="0" marL="0">
              <a:lnSpc>
                <a:spcPts val="2640"/>
              </a:lnSpc>
              <a:buNone/>
            </a:pPr>
            <a:r>
              <a:rPr lang="en-US" sz="13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Does cp &lt; 2.5? Is age &lt; 52?</a:t>
            </a:r>
            <a:endParaRPr lang="en-US" sz="1320" dirty="0"/>
          </a:p>
          <a:p>
            <a:pPr marL="342900" indent="-342900">
              <a:lnSpc>
                <a:spcPts val="2640"/>
              </a:lnSpc>
              <a:buSzPct val="100000"/>
              <a:buChar char="•"/>
            </a:pPr>
            <a:r>
              <a:rPr lang="en-US" sz="13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Splits Data:</a:t>
            </a:r>
            <a:pPr indent="0" marL="0">
              <a:lnSpc>
                <a:spcPts val="2640"/>
              </a:lnSpc>
              <a:buNone/>
            </a:pPr>
            <a:r>
              <a:rPr lang="en-US" sz="13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Divides patients into groups</a:t>
            </a:r>
            <a:endParaRPr lang="en-US" sz="1320" dirty="0"/>
          </a:p>
          <a:p>
            <a:pPr marL="342900" indent="-342900">
              <a:lnSpc>
                <a:spcPts val="2640"/>
              </a:lnSpc>
              <a:buSzPct val="100000"/>
              <a:buChar char="•"/>
            </a:pPr>
            <a:r>
              <a:rPr lang="en-US" sz="13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Predicts:</a:t>
            </a:r>
            <a:pPr indent="0" marL="0">
              <a:lnSpc>
                <a:spcPts val="2640"/>
              </a:lnSpc>
              <a:buNone/>
            </a:pPr>
            <a:r>
              <a:rPr lang="en-US" sz="13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Easy interpretation for doctors</a:t>
            </a:r>
            <a:endParaRPr lang="en-US" sz="1320" dirty="0"/>
          </a:p>
          <a:p>
            <a:pPr marL="342900" indent="-342900">
              <a:lnSpc>
                <a:spcPts val="2640"/>
              </a:lnSpc>
              <a:buSzPct val="100000"/>
              <a:buChar char="•"/>
            </a:pPr>
            <a:r>
              <a:rPr lang="en-US" sz="13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Accurate:</a:t>
            </a:r>
            <a:pPr indent="0" marL="0">
              <a:lnSpc>
                <a:spcPts val="2640"/>
              </a:lnSpc>
              <a:buNone/>
            </a:pPr>
            <a:r>
              <a:rPr lang="en-US" sz="13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85% accuracy on test data</a:t>
            </a:r>
            <a:endParaRPr lang="en-US" sz="13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0333" y="1202410"/>
            <a:ext cx="7623334" cy="525780"/>
          </a:xfrm>
          <a:prstGeom prst="roundRect">
            <a:avLst>
              <a:gd name="adj" fmla="val 208696"/>
            </a:avLst>
          </a:prstGeom>
          <a:solidFill>
            <a:srgbClr val="FFFFFF">
              <a:alpha val="9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60333" y="1880592"/>
            <a:ext cx="7623334" cy="525780"/>
          </a:xfrm>
          <a:prstGeom prst="roundRect">
            <a:avLst>
              <a:gd name="adj" fmla="val 208696"/>
            </a:avLst>
          </a:prstGeom>
          <a:solidFill>
            <a:srgbClr val="FFFFFF">
              <a:alpha val="9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60333" y="2558769"/>
            <a:ext cx="7623334" cy="525780"/>
          </a:xfrm>
          <a:prstGeom prst="roundRect">
            <a:avLst>
              <a:gd name="adj" fmla="val 208696"/>
            </a:avLst>
          </a:prstGeom>
          <a:solidFill>
            <a:srgbClr val="FFFFFF">
              <a:alpha val="9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0333" y="609600"/>
            <a:ext cx="7775801" cy="40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68"/>
              </a:lnSpc>
              <a:buNone/>
            </a:pPr>
            <a:r>
              <a:rPr lang="en-US" sz="264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Excellence</a:t>
            </a:r>
            <a:endParaRPr lang="en-US" sz="2640" dirty="0"/>
          </a:p>
        </p:txBody>
      </p:sp>
      <p:sp>
        <p:nvSpPr>
          <p:cNvPr id="7" name="Text 4"/>
          <p:cNvSpPr/>
          <p:nvPr/>
        </p:nvSpPr>
        <p:spPr>
          <a:xfrm>
            <a:off x="977503" y="1373860"/>
            <a:ext cx="7379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Surgery &amp; Precision:</a:t>
            </a:r>
            <a:pPr indent="0" marL="0">
              <a:lnSpc>
                <a:spcPts val="1134"/>
              </a:lnSpc>
              <a:buNone/>
            </a:pPr>
            <a:r>
              <a:rPr lang="en-US" sz="12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 like surgery requires precision, our model requires accurate predictions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977503" y="2052042"/>
            <a:ext cx="7379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⚕️ Patient Care:</a:t>
            </a:r>
            <a:pPr indent="0" marL="0">
              <a:lnSpc>
                <a:spcPts val="1134"/>
              </a:lnSpc>
              <a:buNone/>
            </a:pPr>
            <a:r>
              <a:rPr lang="en-US" sz="12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prediction helps doctors care for patients better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977503" y="2730219"/>
            <a:ext cx="7379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💚 Save Lives:</a:t>
            </a:r>
            <a:pPr indent="0" marL="0">
              <a:lnSpc>
                <a:spcPts val="1134"/>
              </a:lnSpc>
              <a:buNone/>
            </a:pPr>
            <a:r>
              <a:rPr lang="en-US" sz="12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Early detection = Better outcomes</a:t>
            </a:r>
            <a:endParaRPr lang="en-US" sz="12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240510"/>
            <a:ext cx="7924800" cy="1639729"/>
          </a:xfrm>
          <a:prstGeom prst="roundRect">
            <a:avLst>
              <a:gd name="adj" fmla="val 66918"/>
            </a:avLst>
          </a:prstGeom>
          <a:noFill/>
          <a:ln w="22860">
            <a:solidFill>
              <a:srgbClr val="FFFFFF"/>
            </a:solidFill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3108838"/>
            <a:ext cx="7924800" cy="1639729"/>
          </a:xfrm>
          <a:prstGeom prst="roundRect">
            <a:avLst>
              <a:gd name="adj" fmla="val 66918"/>
            </a:avLst>
          </a:prstGeom>
          <a:noFill/>
          <a:ln w="22860">
            <a:solidFill>
              <a:srgbClr val="FFFFFF"/>
            </a:solidFill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4977166"/>
            <a:ext cx="7924800" cy="1639729"/>
          </a:xfrm>
          <a:prstGeom prst="roundRect">
            <a:avLst>
              <a:gd name="adj" fmla="val 66918"/>
            </a:avLst>
          </a:prstGeom>
          <a:noFill/>
          <a:ln w="22860">
            <a:solidFill>
              <a:srgbClr val="FFFFFF"/>
            </a:solidFill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30352" y="609600"/>
            <a:ext cx="8083296" cy="40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68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 Metrics 📊</a:t>
            </a:r>
            <a:endParaRPr lang="en-US" sz="2640" dirty="0"/>
          </a:p>
        </p:txBody>
      </p:sp>
      <p:sp>
        <p:nvSpPr>
          <p:cNvPr id="7" name="Text 4"/>
          <p:cNvSpPr/>
          <p:nvPr/>
        </p:nvSpPr>
        <p:spPr>
          <a:xfrm>
            <a:off x="937260" y="1568169"/>
            <a:ext cx="7414870" cy="237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FFE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Accuracy</a:t>
            </a:r>
            <a:endParaRPr lang="en-US" sz="1560" dirty="0"/>
          </a:p>
        </p:txBody>
      </p:sp>
      <p:sp>
        <p:nvSpPr>
          <p:cNvPr id="8" name="Text 5"/>
          <p:cNvSpPr/>
          <p:nvPr/>
        </p:nvSpPr>
        <p:spPr>
          <a:xfrm>
            <a:off x="937260" y="1920120"/>
            <a:ext cx="741487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~85%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937260" y="2392561"/>
            <a:ext cx="741487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correctness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937260" y="3436497"/>
            <a:ext cx="7414870" cy="237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FFE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Precision</a:t>
            </a:r>
            <a:endParaRPr lang="en-US" sz="1560" dirty="0"/>
          </a:p>
        </p:txBody>
      </p:sp>
      <p:sp>
        <p:nvSpPr>
          <p:cNvPr id="11" name="Text 8"/>
          <p:cNvSpPr/>
          <p:nvPr/>
        </p:nvSpPr>
        <p:spPr>
          <a:xfrm>
            <a:off x="937260" y="3788448"/>
            <a:ext cx="741487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~82%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937260" y="4260889"/>
            <a:ext cx="741487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positives rate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937260" y="5304830"/>
            <a:ext cx="7414870" cy="237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FFE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Recall</a:t>
            </a:r>
            <a:endParaRPr lang="en-US" sz="1560" dirty="0"/>
          </a:p>
        </p:txBody>
      </p:sp>
      <p:sp>
        <p:nvSpPr>
          <p:cNvPr id="14" name="Text 11"/>
          <p:cNvSpPr/>
          <p:nvPr/>
        </p:nvSpPr>
        <p:spPr>
          <a:xfrm>
            <a:off x="937260" y="5656776"/>
            <a:ext cx="741487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~88%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937260" y="6129217"/>
            <a:ext cx="741487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detection rate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240510"/>
            <a:ext cx="7924800" cy="970717"/>
          </a:xfrm>
          <a:prstGeom prst="roundRect">
            <a:avLst>
              <a:gd name="adj" fmla="val 113038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2439828"/>
            <a:ext cx="7924800" cy="970717"/>
          </a:xfrm>
          <a:prstGeom prst="roundRect">
            <a:avLst>
              <a:gd name="adj" fmla="val 113038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3639145"/>
            <a:ext cx="7924800" cy="970717"/>
          </a:xfrm>
          <a:prstGeom prst="roundRect">
            <a:avLst>
              <a:gd name="adj" fmla="val 113038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30352" y="609600"/>
            <a:ext cx="8083296" cy="40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68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Key Results &amp; Insights</a:t>
            </a:r>
            <a:endParaRPr lang="en-US" sz="2640" dirty="0"/>
          </a:p>
        </p:txBody>
      </p:sp>
      <p:sp>
        <p:nvSpPr>
          <p:cNvPr id="7" name="Text 4"/>
          <p:cNvSpPr/>
          <p:nvPr/>
        </p:nvSpPr>
        <p:spPr>
          <a:xfrm>
            <a:off x="845820" y="1431010"/>
            <a:ext cx="7648042" cy="21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8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Most Important Feature</a:t>
            </a:r>
            <a:endParaRPr lang="en-US" sz="1440" dirty="0"/>
          </a:p>
        </p:txBody>
      </p:sp>
      <p:sp>
        <p:nvSpPr>
          <p:cNvPr id="8" name="Text 5"/>
          <p:cNvSpPr/>
          <p:nvPr/>
        </p:nvSpPr>
        <p:spPr>
          <a:xfrm>
            <a:off x="845820" y="1764743"/>
            <a:ext cx="7648042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Chest pain type (CP) is the strongest predictor of heart disease in our model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845820" y="2630328"/>
            <a:ext cx="7648042" cy="21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8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❤️ Heart Rate Matters</a:t>
            </a:r>
            <a:endParaRPr lang="en-US" sz="1440" dirty="0"/>
          </a:p>
        </p:txBody>
      </p:sp>
      <p:sp>
        <p:nvSpPr>
          <p:cNvPr id="10" name="Text 7"/>
          <p:cNvSpPr/>
          <p:nvPr/>
        </p:nvSpPr>
        <p:spPr>
          <a:xfrm>
            <a:off x="845820" y="2964061"/>
            <a:ext cx="7648042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heart rate shows strong correlation with disease presence</a:t>
            </a:r>
            <a:endParaRPr lang="en-US" sz="1260" dirty="0"/>
          </a:p>
        </p:txBody>
      </p:sp>
      <p:sp>
        <p:nvSpPr>
          <p:cNvPr id="11" name="Text 8"/>
          <p:cNvSpPr/>
          <p:nvPr/>
        </p:nvSpPr>
        <p:spPr>
          <a:xfrm>
            <a:off x="845820" y="3829645"/>
            <a:ext cx="7648042" cy="21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8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💪 Exercise Impact</a:t>
            </a:r>
            <a:endParaRPr lang="en-US" sz="1440" dirty="0"/>
          </a:p>
        </p:txBody>
      </p:sp>
      <p:sp>
        <p:nvSpPr>
          <p:cNvPr id="12" name="Text 9"/>
          <p:cNvSpPr/>
          <p:nvPr/>
        </p:nvSpPr>
        <p:spPr>
          <a:xfrm>
            <a:off x="845820" y="4163374"/>
            <a:ext cx="7648042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Exercise-induced angina is a strong clinical indicator for doctors</a:t>
            </a:r>
            <a:endParaRPr lang="en-US" sz="12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8329" y="915112"/>
            <a:ext cx="7307342" cy="1667113"/>
          </a:xfrm>
          <a:prstGeom prst="roundRect">
            <a:avLst>
              <a:gd name="adj" fmla="val 82274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918329" y="2810824"/>
            <a:ext cx="7307342" cy="518160"/>
          </a:xfrm>
          <a:prstGeom prst="roundRect">
            <a:avLst>
              <a:gd name="adj" fmla="val 21176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45256" y="285750"/>
            <a:ext cx="7453489" cy="43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56"/>
              </a:lnSpc>
              <a:buNone/>
            </a:pPr>
            <a:r>
              <a:rPr lang="en-US" sz="2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Conclusion</a:t>
            </a:r>
            <a:endParaRPr lang="en-US" sz="2880" dirty="0"/>
          </a:p>
        </p:txBody>
      </p:sp>
      <p:sp>
        <p:nvSpPr>
          <p:cNvPr id="6" name="Text 3"/>
          <p:cNvSpPr/>
          <p:nvPr/>
        </p:nvSpPr>
        <p:spPr>
          <a:xfrm>
            <a:off x="1132301" y="1143712"/>
            <a:ext cx="6932738" cy="30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76"/>
              </a:lnSpc>
              <a:buNone/>
            </a:pPr>
            <a:r>
              <a:rPr lang="en-US" sz="1320" b="1" dirty="0">
                <a:solidFill>
                  <a:srgbClr val="FFE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Successfully Built:</a:t>
            </a:r>
            <a:pPr algn="ctr" indent="0" marL="0">
              <a:lnSpc>
                <a:spcPts val="2376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Decision Tree model with 85% accuracy for heart disease detection</a:t>
            </a:r>
            <a:endParaRPr lang="en-US" sz="1320" dirty="0"/>
          </a:p>
        </p:txBody>
      </p:sp>
      <p:sp>
        <p:nvSpPr>
          <p:cNvPr id="7" name="Text 4"/>
          <p:cNvSpPr/>
          <p:nvPr/>
        </p:nvSpPr>
        <p:spPr>
          <a:xfrm>
            <a:off x="1132301" y="1597819"/>
            <a:ext cx="6932738" cy="30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76"/>
              </a:lnSpc>
              <a:buNone/>
            </a:pPr>
            <a:r>
              <a:rPr lang="en-US" sz="1320" b="1" dirty="0">
                <a:solidFill>
                  <a:srgbClr val="FFE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🎖️ Key Achievement:</a:t>
            </a:r>
            <a:pPr algn="ctr" indent="0" marL="0">
              <a:lnSpc>
                <a:spcPts val="2376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Interpretable predictions that doctors trust and understand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1132301" y="2051921"/>
            <a:ext cx="6932738" cy="30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76"/>
              </a:lnSpc>
              <a:buNone/>
            </a:pPr>
            <a:r>
              <a:rPr lang="en-US" sz="1320" b="1" dirty="0">
                <a:solidFill>
                  <a:srgbClr val="FFE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Future Work:</a:t>
            </a:r>
            <a:pPr algn="ctr" indent="0" marL="0">
              <a:lnSpc>
                <a:spcPts val="2376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Ensemble methods, tuning, and real-world clinical deployment</a:t>
            </a:r>
            <a:endParaRPr lang="en-US" sz="1320" dirty="0"/>
          </a:p>
        </p:txBody>
      </p:sp>
      <p:sp>
        <p:nvSpPr>
          <p:cNvPr id="9" name="Text 6"/>
          <p:cNvSpPr/>
          <p:nvPr/>
        </p:nvSpPr>
        <p:spPr>
          <a:xfrm>
            <a:off x="1000704" y="2963224"/>
            <a:ext cx="714259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1440" b="1" dirty="0">
                <a:solidFill>
                  <a:srgbClr val="FFE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💚 Early Detection Saves Lives 💚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2026-01-08T22:07:50Z</dcterms:created>
  <dcterms:modified xsi:type="dcterms:W3CDTF">2026-01-08T22:07:50Z</dcterms:modified>
</cp:coreProperties>
</file>